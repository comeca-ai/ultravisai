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22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índices de 6 dimensões cada, ligados por causa e efeito. Este deck mostra como reconciliá-los.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é a seta Citabilidade → Visibilidade. Age no primeiro, mede o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Ordenadas de interno para externo. Pesos-prior, sujeitos a calibração empírica.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canto inferior-esquerdo é vazio: nada interno está fora do seu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Crosswalk muitos-para-muitos. Espessura = peso; cor = zona. Inferência a calibrar por regressão.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estados do gap entre alavanca e resultado, com a ação para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Citabilidade — faixas completas. Auditadas dos seus ativos; registrar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Visibilidade — faixas completas. Só comparável com prompt-set e motores fixos.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método do AISVS (digitalapplied), mas regredindo contra a própria Visibilidade que o produto já mede.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ULTRAVIS · LLMO / GEO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Citabilidade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Score e o Index se reconciliam — da alavanca ao resultado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5257800"/>
            <a:ext cx="201168" cy="201168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controla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5257800"/>
            <a:ext cx="201168" cy="201168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93008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ativa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5257800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07608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conquista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STRATEGY MEETS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índices, uma cadeia causal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dois frameworks de seis dimensões. Eles não são a mesma coisa medida de dois jeitos — são as duas pontas de uma mesma cadeia. Reconciliar é ligar causa a efeito, não somar.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4892040" cy="2834640"/>
          </a:xfrm>
          <a:prstGeom prst="roundRect">
            <a:avLst>
              <a:gd name="adj" fmla="val 3871"/>
            </a:avLst>
          </a:prstGeom>
          <a:solidFill>
            <a:srgbClr val="E7EFFB"/>
          </a:solidFill>
          <a:ln w="1905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ALAVANCA · LEADING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5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Citabilidade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constrói: schema, presença nas fontes citadas, reviews, autoridade de vertical.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AGE aqui — cada ponto é ação desta semana.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2286000"/>
            <a:ext cx="4892040" cy="2834640"/>
          </a:xfrm>
          <a:prstGeom prst="roundRect">
            <a:avLst>
              <a:gd name="adj" fmla="val 3871"/>
            </a:avLst>
          </a:prstGeom>
          <a:solidFill>
            <a:srgbClr val="EEF1F5"/>
          </a:solidFill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8660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· LAGGING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/ Score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86600" y="36576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IA te mostra: citação, presença, autoridade, posição, acurácia, sentimento.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MEDE aqui — reage semanas depois.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3429000"/>
            <a:ext cx="1143000" cy="548640"/>
          </a:xfrm>
          <a:prstGeom prst="rightArrow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independentes — não se somam num super-índice (seria contar causa e efeito na mesma conta).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6 alavancas do Índice de Citabilidade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7EF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5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 =  0,22·Open Media &amp; AI Sources + 0,20·Conteúdo + 0,18·Customer Reviews + 0,15·Legibilidade do Site + 0,13·Verticals/Segments/Regulators + 0,12·Social Presence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6426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715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532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Legibilidade do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935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próprio · você controla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74920" y="26426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0142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4087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próprio · você controla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40142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" y="53858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5458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276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Presence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678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 · você ativa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5385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90488" y="23317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91656" y="26426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91656" y="2715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2532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59168" y="2935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· você ativa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16768" y="26426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190488" y="37033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91656" y="40142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91656" y="4087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Media &amp; AI Sources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59168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e PR · você conquista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716768" y="40142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90488" y="50749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91656" y="53858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91656" y="5458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59168" y="5276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Verticals/Segments/Regulators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59168" y="5678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· você conquista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716768" y="5385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controla ≠ o que mais pesa</a:t>
            </a:r>
            <a:endParaRPr lang="en-US" sz="3200" dirty="0"/>
          </a:p>
        </p:txBody>
      </p:sp>
      <p:pic>
        <p:nvPicPr>
          <p:cNvPr id="3" name="Image 0" descr="img-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0244"/>
            <a:ext cx="6126480" cy="5060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208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720840" y="174650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951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pelo que é seu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20208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Legibilidade + Conteúdo (35%) têm controle total — pontos rápidos e certos.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20840" y="3026664"/>
            <a:ext cx="146304" cy="146304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9516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alavanca é a menos controlável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33009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Media &amp; AI Sources (22%) depende de terceiros: é campanha, não ajuste de semana.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20840" y="4398264"/>
            <a:ext cx="146304" cy="14630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9516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Sequencie, não escolha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5160" y="46725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rápido interno agora + investir no externo (earned, vertical) em paralelo.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5852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Eixos: interno↔externo (onde a alavanca vive) × dependência de terceiros. Bolha = peso no IC.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alavanca move uma dimensão do Score</a:t>
            </a:r>
            <a:endParaRPr lang="en-US" sz="3100" dirty="0"/>
          </a:p>
        </p:txBody>
      </p:sp>
      <p:pic>
        <p:nvPicPr>
          <p:cNvPr id="3" name="Image 0" descr="img-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331" y="1005840"/>
            <a:ext cx="7416858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com o nome: </a:t>
            </a:r>
            <a:r>
              <a:rPr lang="en-US" sz="12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Score “Citação” é o resultado (você foi citado); no IC “Open Media &amp; AI Sources” é a causa (você está nas fontes que geram a citação).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gap · Citabilidade × Score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distância entre os dois índices diz — e o que fazer. Colunas: IC baixo / IC alto. Linhas: Score alto (cima) / Score baixo (baixo).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baixo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alto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304288"/>
            <a:ext cx="182880" cy="182880"/>
          </a:xfrm>
          <a:prstGeom prst="ellipse">
            <a:avLst/>
          </a:prstGeom>
          <a:solidFill>
            <a:srgbClr val="D0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alto · IC baixo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Frágil / de sorte. O resultado não está sustentado por alavancas — pode cair a qualquer atualização de modelo. Construa a citabilidade antes que reverta.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2304288"/>
            <a:ext cx="182880" cy="18288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31152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alto · IC alto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Saudável. As alavancas sustentam o resultado. Manter cadência e defender posição contra concorrentes.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453128"/>
            <a:ext cx="182880" cy="18288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baixo · IC baixo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8737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limpo. O IC diz exatamente o que atacar primeiro — comece pelas alavancas de alto controle (Legibilidade, Conteúdo).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4453128"/>
            <a:ext cx="182880" cy="182880"/>
          </a:xfrm>
          <a:prstGeom prst="ellipse">
            <a:avLst/>
          </a:prstGeom>
          <a:solidFill>
            <a:srgbClr val="E09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31152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baixo · IC alto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8737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ou calibração. Alavancas feitas, resultado ainda não veio: ou é o atraso natural (espere), ou os pesos do IC precisam recalibrar contra a Visibilidade observada.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IC move primeiro (esta semana); o Score reage depois (semanas). IC subindo antecipa Visibilidade subindo.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pontuar — Citabilidade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da nota 0→100 por dimensão · você audita dos seus ativos (crawler, Ahrefs, perfis). Registre a evidência ao pontuar.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57432" cy="2164080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41–60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61–80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81–100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Legibilidade do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schema/llms.txt/entidade; máquina não lê nem identifica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sitemap; schema inválido/esparso; sem entidade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 schema nas páginas-chave + headings ok; sem Product/FAQ, sem llms.txt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Org+Product+FAQ na maioria, llms.txt, resposta-no-topo; entidade inconsistente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JSON-LD completo validado, llms.txt+sitemap, entidade no Wikidata c/ aliases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 Conteúdo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 dos tópicos; páginas não extraíveis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20-40% cobertos; qualidade GEO fraca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40-60%; alguns front-load, estatísticas ocasionais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60-80%; maioria resposta-no-topo, fontes, tabelas, fresco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≥80% c/ página; dados c/ fonte, citações, tabelas, blocos 50-150p, &lt;12m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 Social Presence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0-1 canal, parado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canais, esporádico (&gt;3 meses)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canais ativos, mensal, sem YouTube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canais, recente, c/ YouTube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canais, semanal+, YouTube forte, conteúdo reaproveitado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 Customer Reviews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perfis; sem reviews ou negativos sem resposta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plataforma, volume baixo, datado, nota &lt;3,5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plataformas, nota ~4,0, respostas ocasionais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Perfis completos, nota ≥4,2, recentes, reclamações respondidas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 ≥4,5, alto volume recente, threads positivas Reddit/Quora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 Open Media &amp; AI Sources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 dos domínios citados; poucos refdomains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10-25% dos domínios citados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25-50%; fontes de frequência média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50-75%, vários de alta frequência; refdomains saudáveis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≥75% ponderado; domínios mais citados; grande footprint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 Verticals/Segments/Regulators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desconhecida (busca ~0); fora de reguladores/listas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Pequena busca de marca; sem listagens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Demanda moderada; algumas listas 'alternativas a'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Busca sólida; associações-chave; várias listas da vertical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Forte demanda + reguladores + associações + Wikipedia + listas top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pontuar — Visibilidade /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da nota 0→100 por dimensão · lido das respostas de IA sobre um prompt-set fixo × motores. Citação e Posição seguem as âncoras da tela original.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57432" cy="1775460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41–60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61–80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81–100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Praticamente não citada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o nome, ocasional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maioria dos prompts, às vezes descrita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Ativamente recomendada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 / recomendação principal, consistente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Presença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0-1 motor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motores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 motores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motores / maioria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 (6/6), cross-engine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o nome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+ descritor genérico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Descreve a categoria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Diferenciais e produtos com precisão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Diferenciais, produtos, história, posicionamento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 ou pior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~1º consistente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Acurácia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Alucina/erra fatos com frequência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Várias imprecisões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Majoritariamente correto; alguns desatualizados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Preciso; raros deslizes menores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preciso e atual, sem alucinação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Predominantemente negativo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Misto p/ negativo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Majoritariamente positivo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Consistentemente positivo / entusiasta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prior à predição: a calibração fecha o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892040" cy="2651760"/>
          </a:xfrm>
          <a:prstGeom prst="roundRect">
            <a:avLst>
              <a:gd name="adj" fmla="val 4138"/>
            </a:avLst>
          </a:prstGeom>
          <a:solidFill>
            <a:srgbClr val="17171A"/>
          </a:solidFill>
          <a:ln w="12700">
            <a:solidFill>
              <a:srgbClr val="2C2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Pesos-prior ancorados em evidência. Já é defensável e acionável desde o primeiro cliente.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0" y="1828800"/>
            <a:ext cx="4892040" cy="2651760"/>
          </a:xfrm>
          <a:prstGeom prst="roundRect">
            <a:avLst>
              <a:gd name="adj" fmla="val 4138"/>
            </a:avLst>
          </a:prstGeom>
          <a:solidFill>
            <a:srgbClr val="17171A"/>
          </a:solidFill>
          <a:ln w="12700">
            <a:solidFill>
              <a:srgbClr val="2C2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HISTÓRICO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3063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regularizada das dimensões do IC contra a Visibilidade observada. Cada peso vira a contribuição medida da alavanca no resultado real.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15000" y="2880360"/>
            <a:ext cx="777240" cy="54864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sobe hoje  →  Visibilidade sobe nas próximas semanas.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loop “fiz → melhorou”: a régua deixa de só medir o passado e passa a prever o resultado.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1366</Words>
  <Application>Microsoft Office PowerPoint</Application>
  <PresentationFormat>Widescreen</PresentationFormat>
  <Paragraphs>186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Igor Meskelis</cp:lastModifiedBy>
  <cp:revision>1</cp:revision>
  <dcterms:created xsi:type="dcterms:W3CDTF">2026-08-17T14:00:26Z</dcterms:created>
  <dcterms:modified xsi:type="dcterms:W3CDTF">2026-08-17T14:05:11Z</dcterms:modified>
</cp:coreProperties>
</file>